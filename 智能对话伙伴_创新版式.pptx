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0"/>
            <a:ext cx="3657600" cy="36576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941832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03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5078B4"/>
                </a:solidFill>
              </a:defRPr>
            </a:pPr>
            <a:r>
              <a:t>智能对话伙伴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787878"/>
                </a:solidFill>
              </a:defRPr>
            </a:pPr>
            <a:r>
              <a:t>少儿口语练习智能体 × 二三级口译智能体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9650"/>
                </a:solidFill>
              </a:defRPr>
            </a:pPr>
            <a:r>
              <a:t>让语言学习更专业、更轻松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0"/>
            <a:ext cx="3657600" cy="3657600"/>
          </a:xfrm>
          <a:prstGeom prst="ellipse">
            <a:avLst/>
          </a:prstGeom>
          <a:solidFill>
            <a:srgbClr val="FF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FF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078B4"/>
                </a:solidFill>
              </a:defRPr>
            </a:pPr>
            <a:r>
              <a:t>两大智能体，覆盖语言成长全阶段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572000" cy="411480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206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9650"/>
                </a:solidFill>
              </a:defRPr>
            </a:pPr>
            <a:r>
              <a:t>少儿口语练习智能体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兴趣启蒙</a:t>
            </a:r>
            <a:br/>
            <a:r>
              <a:t>自信开口</a:t>
            </a:r>
            <a:br/>
            <a:r>
              <a:t>游戏化学习</a:t>
            </a:r>
            <a:br/>
            <a:r>
              <a:t>激发表达欲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463040"/>
            <a:ext cx="4572000" cy="41148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645920"/>
            <a:ext cx="4206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078B4"/>
                </a:solidFill>
              </a:defRPr>
            </a:pPr>
            <a:r>
              <a:t>二三级口译智能体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560320"/>
            <a:ext cx="3840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专业进阶</a:t>
            </a:r>
            <a:br/>
            <a:r>
              <a:t>实战演练</a:t>
            </a:r>
            <a:br/>
            <a:r>
              <a:t>精准评估</a:t>
            </a:r>
            <a:br/>
            <a:r>
              <a:t>高效备考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01752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9650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7607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从敢说到会译，每一步都有AI陪伴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0"/>
            <a:ext cx="3657600" cy="3657600"/>
          </a:xfrm>
          <a:prstGeom prst="ellipse">
            <a:avLst/>
          </a:prstGeom>
          <a:solidFill>
            <a:srgbClr val="FF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FF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9650"/>
                </a:solidFill>
              </a:defRPr>
            </a:pPr>
            <a:r>
              <a:t>少儿口语练习智能体 — 让孩子爱上说英语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463040"/>
            <a:ext cx="347472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6459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9650"/>
                </a:solidFill>
              </a:defRPr>
            </a:pPr>
            <a:r>
              <a:t>场景对话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05050"/>
                </a:solidFill>
              </a:defRPr>
            </a:pPr>
            <a:r>
              <a:t>模拟餐厅、动物园等丰富生活场景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1463040"/>
            <a:ext cx="347472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6459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9650"/>
                </a:solidFill>
              </a:defRPr>
            </a:pPr>
            <a:r>
              <a:t>语音打分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0040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05050"/>
                </a:solidFill>
              </a:defRPr>
            </a:pPr>
            <a:r>
              <a:t>实时纠正发音，像游戏一样轻松闯关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1463040"/>
            <a:ext cx="347472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6459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60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9650"/>
                </a:solidFill>
              </a:defRPr>
            </a:pPr>
            <a:r>
              <a:t>趣味激励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00400"/>
            <a:ext cx="3383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505050"/>
                </a:solidFill>
              </a:defRPr>
            </a:pPr>
            <a:r>
              <a:t>动画勋章+成长树，持续激发动力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1208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9650"/>
                </a:solidFill>
              </a:defRPr>
            </a:pPr>
            <a:r>
              <a:t>轻松开口 · 快乐成长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0"/>
            <a:ext cx="3657600" cy="36576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078B4"/>
                </a:solidFill>
              </a:defRPr>
            </a:pPr>
            <a:r>
              <a:t>轻松融入学习日常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7223760" cy="1463040"/>
          </a:xfrm>
          <a:prstGeom prst="round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650"/>
                </a:solidFill>
              </a:defRPr>
            </a:pPr>
            <a:r>
              <a:t>🏠 家庭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6309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睡前10分钟，互动练习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743200"/>
            <a:ext cx="7223760" cy="1463040"/>
          </a:xfrm>
          <a:prstGeom prst="round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88036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650"/>
                </a:solidFill>
              </a:defRPr>
            </a:pPr>
            <a:r>
              <a:t>👨‍🏫 课堂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383280"/>
            <a:ext cx="6309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老师的小助手，分组PK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3931920"/>
            <a:ext cx="7223760" cy="1463040"/>
          </a:xfrm>
          <a:prstGeom prst="round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406908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650"/>
                </a:solidFill>
              </a:defRPr>
            </a:pPr>
            <a:r>
              <a:t>📚 自学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572000"/>
            <a:ext cx="6309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孩子自己就能玩着学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0"/>
            <a:ext cx="3657600" cy="3657600"/>
          </a:xfrm>
          <a:prstGeom prst="ellipse">
            <a:avLst/>
          </a:prstGeom>
          <a:solidFill>
            <a:srgbClr val="FF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FF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9650"/>
                </a:solidFill>
              </a:defRPr>
            </a:pPr>
            <a:r>
              <a:t>一次开口，三步成长</a:t>
            </a:r>
          </a:p>
        </p:txBody>
      </p:sp>
      <p:sp>
        <p:nvSpPr>
          <p:cNvPr id="6" name="Oval 5"/>
          <p:cNvSpPr/>
          <p:nvPr/>
        </p:nvSpPr>
        <p:spPr>
          <a:xfrm>
            <a:off x="2468880" y="1554480"/>
            <a:ext cx="914400" cy="914400"/>
          </a:xfrm>
          <a:prstGeom prst="ellipse">
            <a:avLst/>
          </a:prstGeom>
          <a:solidFill>
            <a:srgbClr val="FF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9650"/>
                </a:solidFill>
              </a:defRPr>
            </a:pPr>
            <a:r>
              <a:t>1 选择场景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91840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孩子挑选主题</a:t>
            </a:r>
            <a:br/>
            <a:r>
              <a:t>比如“在动物园”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65960"/>
            <a:ext cx="365760" cy="914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554480"/>
            <a:ext cx="914400" cy="914400"/>
          </a:xfrm>
          <a:prstGeom prst="ellipse">
            <a:avLst/>
          </a:prstGeom>
          <a:solidFill>
            <a:srgbClr val="FF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AA64"/>
                </a:solidFill>
              </a:defRPr>
            </a:pPr>
            <a:r>
              <a:t>2 互动对话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91840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AI用卡通角色提问</a:t>
            </a:r>
            <a:br/>
            <a:r>
              <a:t>孩子语音回答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965960"/>
            <a:ext cx="365760" cy="914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52559" y="1554480"/>
            <a:ext cx="914400" cy="914400"/>
          </a:xfrm>
          <a:prstGeom prst="ellipse">
            <a:avLst/>
          </a:prstGeom>
          <a:solidFill>
            <a:srgbClr val="FF8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59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65176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8246"/>
                </a:solidFill>
              </a:defRPr>
            </a:pPr>
            <a:r>
              <a:t>3 反馈激励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291840"/>
            <a:ext cx="3108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实时打分+收集勋章</a:t>
            </a:r>
            <a:br/>
            <a:r>
              <a:t>小树一天天长大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21208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9650"/>
                </a:solidFill>
              </a:defRPr>
            </a:pPr>
            <a:r>
              <a:t>每次3-5分钟，像玩游戏一样练口语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0"/>
            <a:ext cx="3657600" cy="36576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5078B4"/>
                </a:solidFill>
              </a:defRPr>
            </a:pPr>
            <a:r>
              <a:t>二三级口译智能体 — 向专业口译迈进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3200400" cy="3474720"/>
          </a:xfrm>
          <a:prstGeom prst="round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5078B4"/>
                </a:solidFill>
              </a:defRPr>
            </a:pPr>
            <a:r>
              <a:t>双向交传模拟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中英互译·自动分段录音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63040"/>
            <a:ext cx="3200400" cy="3474720"/>
          </a:xfrm>
          <a:prstGeom prst="round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7373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5078B4"/>
                </a:solidFill>
              </a:defRPr>
            </a:pPr>
            <a:r>
              <a:t>笔记法训练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关键信息捕捉·重点提示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200400" cy="3474720"/>
          </a:xfrm>
          <a:prstGeom prst="round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7373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5078B4"/>
                </a:solidFill>
              </a:defRPr>
            </a:pPr>
            <a:r>
              <a:t>考试真题演练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05050"/>
                </a:solidFill>
              </a:defRPr>
            </a:pPr>
            <a:r>
              <a:t>覆盖CATTI二三级题型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1208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078B4"/>
                </a:solidFill>
              </a:defRPr>
            </a:pPr>
            <a:r>
              <a:t>专业AI陪练，让口译学习更高效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0"/>
            <a:ext cx="3657600" cy="36576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078B4"/>
                </a:solidFill>
              </a:defRPr>
            </a:pPr>
            <a:r>
              <a:t>备考与实战利器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645920"/>
            <a:ext cx="7589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737360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78B4"/>
                </a:solidFill>
              </a:defRPr>
            </a:pPr>
            <a:r>
              <a:t>🌅 备考自习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4028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7878"/>
                </a:solidFill>
              </a:defRPr>
            </a:pPr>
            <a:r>
              <a:t>自由设定语速与停顿时间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926080"/>
            <a:ext cx="7589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3017520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78B4"/>
                </a:solidFill>
              </a:defRPr>
            </a:pPr>
            <a:r>
              <a:t>👥 课堂演练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2044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7878"/>
                </a:solidFill>
              </a:defRPr>
            </a:pPr>
            <a:r>
              <a:t>模拟会议口译，可复盘录音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206240"/>
            <a:ext cx="7589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4297680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78B4"/>
                </a:solidFill>
              </a:defRPr>
            </a:pPr>
            <a:r>
              <a:t>📊 自我评估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06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87878"/>
                </a:solidFill>
              </a:defRPr>
            </a:pPr>
            <a:r>
              <a:t>AI给出准确率与流畅度分析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0"/>
            <a:ext cx="3657600" cy="3657600"/>
          </a:xfrm>
          <a:prstGeom prst="ellipse">
            <a:avLst/>
          </a:prstGeom>
          <a:solidFill>
            <a:srgbClr val="FF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FF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5078B4"/>
                </a:solidFill>
              </a:defRPr>
            </a:pPr>
            <a:r>
              <a:t>一段录音，四步进阶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4572000" cy="1737360"/>
          </a:xfrm>
          <a:prstGeom prst="round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78B4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078B4"/>
                </a:solidFill>
              </a:defRPr>
            </a:pPr>
            <a:r>
              <a:t>获取源语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4688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播放真题/上传音频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645920"/>
            <a:ext cx="4572000" cy="1737360"/>
          </a:xfrm>
          <a:prstGeom prst="round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737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78B4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078B4"/>
                </a:solidFill>
              </a:defRPr>
            </a:pPr>
            <a:r>
              <a:t>口译录音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6888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提示音后开始口译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657600"/>
            <a:ext cx="4572000" cy="1737360"/>
          </a:xfrm>
          <a:prstGeom prst="round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7490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78B4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840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078B4"/>
                </a:solidFill>
              </a:defRPr>
            </a:pPr>
            <a:r>
              <a:t>AI评估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805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三方面精准打分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57600"/>
            <a:ext cx="4572000" cy="1737360"/>
          </a:xfrm>
          <a:prstGeom prst="round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7490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78B4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8404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078B4"/>
                </a:solidFill>
              </a:defRPr>
            </a:pPr>
            <a:r>
              <a:t>复盘学习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4805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对比译文·标记弱点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57784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078B4"/>
                </a:solidFill>
              </a:defRPr>
            </a:pPr>
            <a:r>
              <a:t>练一次，进步一次，随时回看成长曲线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0"/>
            <a:ext cx="3657600" cy="36576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5078B4"/>
                </a:solidFill>
              </a:defRPr>
            </a:pPr>
            <a:r>
              <a:t>一个家庭，两种需要 — 智能体如何一起使用？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4754880" cy="320040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9650"/>
                </a:solidFill>
              </a:defRPr>
            </a:pPr>
            <a:r>
              <a:t>少儿口语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05050"/>
                </a:solidFill>
              </a:defRPr>
            </a:pPr>
            <a:r>
              <a:t>亲子共学，培养语感</a:t>
            </a:r>
            <a:br/>
            <a:r>
              <a:t>激发兴趣，自信开口</a:t>
            </a:r>
            <a:br/>
            <a:r>
              <a:t>为未来学习打下坚实基础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280160"/>
            <a:ext cx="4754880" cy="320040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41732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5078B4"/>
                </a:solidFill>
              </a:defRPr>
            </a:pPr>
            <a:r>
              <a:t>二三级口译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011680"/>
            <a:ext cx="4023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05050"/>
                </a:solidFill>
              </a:defRPr>
            </a:pPr>
            <a:r>
              <a:t>个人精进，职业跳板</a:t>
            </a:r>
            <a:br/>
            <a:r>
              <a:t>专业训练，高效备考</a:t>
            </a:r>
            <a:br/>
            <a:r>
              <a:t>实现翻译梦想的最佳助手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77440"/>
            <a:ext cx="1554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9650"/>
                </a:solidFill>
              </a:defRPr>
            </a:pPr>
            <a:r>
              <a:t>共同成长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6344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从少儿到成人的语言能力进阶之路</a:t>
            </a:r>
            <a:br/>
            <a:r>
              <a:t>同一个账号，记录全周期成长轨迹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0"/>
            <a:ext cx="3657600" cy="3657600"/>
          </a:xfrm>
          <a:prstGeom prst="ellipse">
            <a:avLst/>
          </a:prstGeom>
          <a:solidFill>
            <a:srgbClr val="FF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FF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5078B4"/>
                </a:solidFill>
              </a:defRPr>
            </a:pPr>
            <a:r>
              <a:t>让AI成为语言成长的终身伙伴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463040"/>
            <a:ext cx="758952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9650"/>
                </a:solidFill>
              </a:defRPr>
            </a:pPr>
            <a:r>
              <a:t>个性化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5740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匹配不同年龄与水平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834640"/>
            <a:ext cx="758952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926080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078B4"/>
                </a:solidFill>
              </a:defRPr>
            </a:pPr>
            <a:r>
              <a:t>便捷性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2900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手机/平板/电脑随时用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206240"/>
            <a:ext cx="758952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4297680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4A078"/>
                </a:solidFill>
              </a:defRPr>
            </a:pPr>
            <a:r>
              <a:t>未来计划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0600"/>
            <a:ext cx="6675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增加手语翻译·方言适应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486400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9650"/>
                </a:solidFill>
              </a:defRPr>
            </a:pPr>
            <a:r>
              <a:t>语言无界，成长可见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0"/>
            <a:ext cx="3657600" cy="36576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5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5920" y="1371600"/>
            <a:ext cx="88696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7589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5078B4"/>
                </a:solidFill>
              </a:defRPr>
            </a:pPr>
            <a: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383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787878"/>
                </a:solidFill>
              </a:defRPr>
            </a:pPr>
            <a:r>
              <a:t>智能对话伙伴，陪伴每一次成长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9768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9650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