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3657600" cy="3657600"/>
          </a:xfrm>
          <a:prstGeom prst="ellipse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3200400" cy="3200400"/>
          </a:xfrm>
          <a:prstGeom prst="ellipse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5096"/>
                </a:solidFill>
              </a:defRPr>
            </a:pPr>
            <a:r>
              <a:t>智能对话伙伴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787878"/>
                </a:solidFill>
              </a:defRPr>
            </a:pPr>
            <a:r>
              <a:t>少儿口语练习智能体 × 二三级口译智能体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8232"/>
                </a:solidFill>
              </a:defRPr>
            </a:pPr>
            <a:r>
              <a:t>让语言学习更专业、更轻松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5096"/>
                </a:solidFill>
              </a:defRPr>
            </a:pPr>
            <a:r>
              <a:t>两大智能体，覆盖语言成长全阶段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572000" cy="4114800"/>
          </a:xfrm>
          <a:prstGeom prst="roundRect">
            <a:avLst/>
          </a:prstGeom>
          <a:solidFill>
            <a:srgbClr val="F0FA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8232"/>
                </a:solidFill>
              </a:defRPr>
            </a:pPr>
            <a:r>
              <a:t>少儿口语练习智能体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兴趣启蒙·自信开口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572000" cy="411480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5096"/>
                </a:solidFill>
              </a:defRPr>
            </a:pPr>
            <a:r>
              <a:t>二三级口译智能体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精准高效·专业进阶</a:t>
            </a:r>
          </a:p>
        </p:txBody>
      </p:sp>
      <p:sp>
        <p:nvSpPr>
          <p:cNvPr id="10" name="Up Arrow 9"/>
          <p:cNvSpPr/>
          <p:nvPr/>
        </p:nvSpPr>
        <p:spPr>
          <a:xfrm>
            <a:off x="5486400" y="2743200"/>
            <a:ext cx="1188720" cy="1828800"/>
          </a:xfrm>
          <a:prstGeom prst="upArrow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787878"/>
                </a:solidFill>
              </a:defRPr>
            </a:pPr>
            <a:r>
              <a:t>从敢说到会译，每一步都有AI陪伴。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8232"/>
                </a:solidFill>
              </a:defRPr>
            </a:pPr>
            <a:r>
              <a:t>少儿口语练习智能体 — 让孩子爱上说英语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232"/>
                </a:solidFill>
              </a:defRPr>
            </a:pPr>
            <a:r>
              <a:t>场景对话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模拟餐厅、动物园等生活场景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232"/>
                </a:solidFill>
              </a:defRPr>
            </a:pPr>
            <a:r>
              <a:t>语音打分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实时纠正发音，像游戏一样闯关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3474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232"/>
                </a:solidFill>
              </a:defRPr>
            </a:pPr>
            <a:r>
              <a:t>趣味激励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动画勋章+成长树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🎤  😊  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5096"/>
                </a:solidFill>
              </a:defRPr>
            </a:pPr>
            <a:r>
              <a:t>轻松融入学习日常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232"/>
                </a:solidFill>
              </a:defRPr>
            </a:pPr>
            <a:r>
              <a:t>家庭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睡前10分钟互动练习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232"/>
                </a:solidFill>
              </a:defRPr>
            </a:pPr>
            <a:r>
              <a:t>课堂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老师的小助手，分组PK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34747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232"/>
                </a:solidFill>
              </a:defRPr>
            </a:pPr>
            <a:r>
              <a:t>自学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孩子自己点开就能玩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8232"/>
                </a:solidFill>
              </a:defRPr>
            </a:pPr>
            <a:r>
              <a:t>一次开口，三步成长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29184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232"/>
                </a:solidFill>
              </a:defRPr>
            </a:pPr>
            <a:r>
              <a:t>1. 选择场景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孩子挑选主题</a:t>
            </a:r>
            <a:br/>
            <a:r>
              <a:t>（如“在动物园”）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29184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0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7832"/>
                </a:solidFill>
              </a:defRPr>
            </a:pPr>
            <a:r>
              <a:t>2. 互动对话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AI用卡通角色提问</a:t>
            </a:r>
            <a:br/>
            <a:r>
              <a:t>孩子语音回答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29184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41E"/>
                </a:solidFill>
              </a:defRPr>
            </a:pPr>
            <a:r>
              <a:t>3. 反馈激励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实时打分+收集勋章</a:t>
            </a:r>
            <a:br/>
            <a:r>
              <a:t>小树长高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40480" y="2743200"/>
            <a:ext cx="731520" cy="457200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98079" y="2743200"/>
            <a:ext cx="731520" cy="457200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8232"/>
                </a:solidFill>
              </a:defRPr>
            </a:pPr>
            <a:r>
              <a:t>每次3-5分钟，像玩游戏一样练口语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E5096"/>
                </a:solidFill>
              </a:defRPr>
            </a:pPr>
            <a:r>
              <a:t>二三级口译智能体 — 向专业口译迈进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5096"/>
                </a:solidFill>
              </a:defRPr>
            </a:pPr>
            <a:r>
              <a:t>双向交传模拟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中英互译，自动分段录音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320040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5096"/>
                </a:solidFill>
              </a:defRPr>
            </a:pPr>
            <a:r>
              <a:t>笔记法训练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关键信息捕捉提示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3474720" cy="320040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5096"/>
                </a:solidFill>
              </a:defRPr>
            </a:pPr>
            <a:r>
              <a:t>考试真题演练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覆盖CATTI二三级题型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t>🎧  📝  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5096"/>
                </a:solidFill>
              </a:defRPr>
            </a:pPr>
            <a:r>
              <a:t>备考与实战利器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5096"/>
                </a:solidFill>
              </a:defRPr>
            </a:pPr>
            <a:r>
              <a:t>备考自习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自由设定语速与停顿时间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5096"/>
                </a:solidFill>
              </a:defRPr>
            </a:pPr>
            <a:r>
              <a:t>课堂演练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模拟会议口译，可复盘录音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34747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5096"/>
                </a:solidFill>
              </a:defRPr>
            </a:pPr>
            <a:r>
              <a:t>自我评估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AI给出准确率与流畅度分析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5096"/>
                </a:solidFill>
              </a:defRPr>
            </a:pPr>
            <a:r>
              <a:t>一段录音，四步进阶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5096"/>
                </a:solidFill>
              </a:defRPr>
            </a:pPr>
            <a:r>
              <a:t>1. 获取源语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播放真题/用户上传音频</a:t>
            </a:r>
            <a:br/>
            <a:r>
              <a:t>（中/英）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603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5096"/>
                </a:solidFill>
              </a:defRPr>
            </a:pPr>
            <a:r>
              <a:t>2. 口译录音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听到提示音后开始口译</a:t>
            </a:r>
            <a:br/>
            <a:r>
              <a:t>自动分段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5096"/>
                </a:solidFill>
              </a:defRPr>
            </a:pPr>
            <a:r>
              <a:t>3. AI评估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从准确率、流畅度、术语</a:t>
            </a:r>
            <a:br/>
            <a:r>
              <a:t>三方面打分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371600"/>
            <a:ext cx="2560320" cy="365760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5544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5096"/>
                </a:solidFill>
              </a:defRPr>
            </a:pPr>
            <a:r>
              <a:t>4. 复盘学习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1945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对比参考译文，标记薄弱句</a:t>
            </a:r>
            <a:br/>
            <a:r>
              <a:t>支持重练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5096"/>
                </a:solidFill>
              </a:defRPr>
            </a:pPr>
            <a:r>
              <a:t>练一次，进步一次，随时回看成长曲线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5096"/>
                </a:solidFill>
              </a:defRPr>
            </a:pPr>
            <a:r>
              <a:t>一个家庭，两种需要 —— 智能体如何一起使用？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8232"/>
                </a:solidFill>
              </a:defRPr>
            </a:pPr>
            <a:r>
              <a:t>少儿口语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480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亲子共学，培养语感</a:t>
            </a:r>
            <a:br/>
            <a:r>
              <a:t>激发兴趣，自信开口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743200"/>
            <a:ext cx="73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➡️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5029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4592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5096"/>
                </a:solidFill>
              </a:defRPr>
            </a:pPr>
            <a:r>
              <a:t>二三级口译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77440"/>
            <a:ext cx="4480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个人精进，职业跳板</a:t>
            </a:r>
            <a:br/>
            <a:r>
              <a:t>专业训练，高效备考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87878"/>
                </a:solidFill>
              </a:defRPr>
            </a:pPr>
            <a:r>
              <a:t>从少儿到成人的语言能力进阶之路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5096"/>
                </a:solidFill>
              </a:defRPr>
            </a:pPr>
            <a:r>
              <a:t>同一个账号，记录全周期成长轨迹。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5096"/>
                </a:solidFill>
              </a:defRPr>
            </a:pPr>
            <a:r>
              <a:t>让AI成为语言成长的终身伙伴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645920"/>
            <a:ext cx="7315200" cy="10972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FF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178308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232"/>
                </a:solidFill>
              </a:defRPr>
            </a:pPr>
            <a:r>
              <a:t>个性化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4028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匹配不同年龄与水平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017520"/>
            <a:ext cx="7315200" cy="10972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E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154679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5096"/>
                </a:solidFill>
              </a:defRPr>
            </a:pPr>
            <a:r>
              <a:t>便捷性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11879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手机/平板/电脑随时用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389120"/>
            <a:ext cx="7315200" cy="10972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5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52628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A078"/>
                </a:solidFill>
              </a:defRPr>
            </a:pPr>
            <a:r>
              <a:t>未来计划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98348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增加手语翻译、方言口音适应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232"/>
                </a:solidFill>
              </a:defRPr>
            </a:pPr>
            <a:r>
              <a:t>语言无界，成长可见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371600"/>
            <a:ext cx="3657600" cy="3657600"/>
          </a:xfrm>
          <a:prstGeom prst="ellipse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1371600"/>
            <a:ext cx="3657600" cy="3657600"/>
          </a:xfrm>
          <a:prstGeom prst="ellipse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5096"/>
                </a:solidFill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787878"/>
                </a:solidFill>
              </a:defRPr>
            </a:pPr>
            <a:r>
              <a:t>智能对话伙伴，陪伴每一次成长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8232"/>
                </a:solidFill>
              </a:defRPr>
            </a:pPr>
            <a:r>
              <a:t>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0" y="6217920"/>
            <a:ext cx="1097280" cy="548640"/>
          </a:xfrm>
          <a:prstGeom prst="round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0" y="6309360"/>
            <a:ext cx="1097280" cy="548640"/>
          </a:xfrm>
          <a:prstGeom prst="roundRect">
            <a:avLst/>
          </a:prstGeom>
          <a:solidFill>
            <a:srgbClr val="FF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